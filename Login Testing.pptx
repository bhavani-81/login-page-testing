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3233520"/>
            <a:ext cx="8686440" cy="125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 hasCustomPrompt="1"/>
          </p:nvPr>
        </p:nvSpPr>
        <p:spPr>
          <a:xfrm>
            <a:off x="223200" y="573120"/>
            <a:ext cx="8692200" cy="25225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  <a:effectLst>
            <a:outerShdw dist="76123" dir="2642517" rotWithShape="0">
              <a:srgbClr val="D1F593"/>
            </a:outerShdw>
          </a:effectLst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3" name="Google Shape;12;p2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 hasCustomPrompt="1"/>
          </p:nvPr>
        </p:nvSpPr>
        <p:spPr>
          <a:xfrm>
            <a:off x="1284120" y="1057680"/>
            <a:ext cx="6575760" cy="171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4" name="Google Shape;51;p11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oogle Shape;54;p13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86868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 hasCustomPrompt="1"/>
          </p:nvPr>
        </p:nvSpPr>
        <p:spPr>
          <a:xfrm>
            <a:off x="228600" y="1332000"/>
            <a:ext cx="7358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 hasCustomPrompt="1"/>
          </p:nvPr>
        </p:nvSpPr>
        <p:spPr>
          <a:xfrm>
            <a:off x="228600" y="3192840"/>
            <a:ext cx="7358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 hasCustomPrompt="1"/>
          </p:nvPr>
        </p:nvSpPr>
        <p:spPr>
          <a:xfrm>
            <a:off x="228600" y="2262960"/>
            <a:ext cx="7358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 hasCustomPrompt="1"/>
          </p:nvPr>
        </p:nvSpPr>
        <p:spPr>
          <a:xfrm>
            <a:off x="228600" y="4122720"/>
            <a:ext cx="7358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 hasCustomPrompt="1"/>
          </p:nvPr>
        </p:nvSpPr>
        <p:spPr>
          <a:xfrm>
            <a:off x="4675680" y="1332000"/>
            <a:ext cx="7358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 hasCustomPrompt="1"/>
          </p:nvPr>
        </p:nvSpPr>
        <p:spPr>
          <a:xfrm>
            <a:off x="4675680" y="3192840"/>
            <a:ext cx="7358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 hasCustomPrompt="1"/>
          </p:nvPr>
        </p:nvSpPr>
        <p:spPr>
          <a:xfrm>
            <a:off x="4675680" y="2262960"/>
            <a:ext cx="7358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title" hasCustomPrompt="1"/>
          </p:nvPr>
        </p:nvSpPr>
        <p:spPr>
          <a:xfrm>
            <a:off x="4675680" y="4122720"/>
            <a:ext cx="7358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73;p14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8686800" cy="114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77;p15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  <p:sp>
        <p:nvSpPr>
          <p:cNvPr id="19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5236920" cy="163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 hasCustomPrompt="1"/>
          </p:nvPr>
        </p:nvSpPr>
        <p:spPr>
          <a:xfrm>
            <a:off x="5758920" y="447480"/>
            <a:ext cx="3152160" cy="44413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  <a:effectLst>
            <a:outerShdw dist="76123" dir="2642517" rotWithShape="0">
              <a:srgbClr val="F5E6AB"/>
            </a:outerShdw>
          </a:effectLst>
        </p:spPr>
        <p:txBody>
          <a:bodyPr lIns="90000" tIns="45000" rIns="90000" bIns="45000" anchor="t">
            <a:normAutofit fontScale="70000" lnSpcReduction="19999"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431604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2" name="Google Shape;89;p16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4739400" y="228600"/>
            <a:ext cx="4175280" cy="112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4" name="Google Shape;100;p17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788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6" name="Google Shape;103;p18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788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28" name="Google Shape;106;p19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108;p20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  <p:sp>
        <p:nvSpPr>
          <p:cNvPr id="30" name="PlaceHolder 1"/>
          <p:cNvSpPr>
            <a:spLocks noGrp="1"/>
          </p:cNvSpPr>
          <p:nvPr>
            <p:ph type="title" hasCustomPrompt="1"/>
          </p:nvPr>
        </p:nvSpPr>
        <p:spPr>
          <a:xfrm>
            <a:off x="3618360" y="1117440"/>
            <a:ext cx="5281920" cy="18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" name="Google Shape;111;p20"/>
          <p:cNvSpPr/>
          <p:nvPr/>
        </p:nvSpPr>
        <p:spPr>
          <a:xfrm>
            <a:off x="228600" y="3847680"/>
            <a:ext cx="256068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CREDITS: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 This presentation template was created by </a:t>
            </a:r>
            <a:r>
              <a:rPr lang="en-GB" sz="1000" b="1" u="sng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  <a:hlinkClick r:id="rId2"/>
              </a:rPr>
              <a:t>Slidesgo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, and includes icons, infographics &amp; images by </a:t>
            </a:r>
            <a:r>
              <a:rPr lang="en-GB" sz="1000" b="1" u="sng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  <a:hlinkClick r:id="rId3"/>
              </a:rPr>
              <a:t>Freepik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14;p3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  <p:sp>
        <p:nvSpPr>
          <p:cNvPr id="33" name="PlaceHolder 1"/>
          <p:cNvSpPr>
            <a:spLocks noGrp="1"/>
          </p:cNvSpPr>
          <p:nvPr>
            <p:ph type="title" hasCustomPrompt="1"/>
          </p:nvPr>
        </p:nvSpPr>
        <p:spPr>
          <a:xfrm>
            <a:off x="4560120" y="2249280"/>
            <a:ext cx="4354920" cy="173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1028160" cy="83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 hasCustomPrompt="1"/>
          </p:nvPr>
        </p:nvSpPr>
        <p:spPr>
          <a:xfrm>
            <a:off x="223200" y="1797840"/>
            <a:ext cx="3960720" cy="309060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  <a:effectLst>
            <a:outerShdw dist="76123" dir="2642517" rotWithShape="0">
              <a:srgbClr val="BDCBFF"/>
            </a:outerShdw>
          </a:effectLst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113;p21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115;p22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 hasCustomPrompt="1"/>
          </p:nvPr>
        </p:nvSpPr>
        <p:spPr>
          <a:xfrm>
            <a:off x="2286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40" name="Google Shape;22;p4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42" name="Google Shape;29;p5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788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44" name="Google Shape;32;p6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46" name="Google Shape;36;p7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  <p:sp>
        <p:nvSpPr>
          <p:cNvPr id="47" name="PlaceHolder 2"/>
          <p:cNvSpPr>
            <a:spLocks noGrp="1"/>
          </p:cNvSpPr>
          <p:nvPr>
            <p:ph type="body" hasCustomPrompt="1"/>
          </p:nvPr>
        </p:nvSpPr>
        <p:spPr>
          <a:xfrm>
            <a:off x="4950000" y="1797840"/>
            <a:ext cx="3960720" cy="309060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  <a:effectLst>
            <a:outerShdw dist="76123" dir="2642517" rotWithShape="0">
              <a:srgbClr val="BDCBFF"/>
            </a:outerShdw>
          </a:effectLst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 hasCustomPrompt="1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49" name="Google Shape;40;p8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 hasCustomPrompt="1"/>
          </p:nvPr>
        </p:nvSpPr>
        <p:spPr>
          <a:xfrm>
            <a:off x="2135520" y="1655640"/>
            <a:ext cx="487260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cxnSp>
        <p:nvCxnSpPr>
          <p:cNvPr id="51" name="Google Shape;44;p9"/>
          <p:cNvCxnSpPr/>
          <p:nvPr/>
        </p:nvCxnSpPr>
        <p:spPr>
          <a:xfrm>
            <a:off x="246960" y="230040"/>
            <a:ext cx="8664120" cy="360"/>
          </a:xfrm>
          <a:prstGeom prst="straightConnector1">
            <a:avLst/>
          </a:prstGeom>
          <a:ln w="19050">
            <a:solidFill>
              <a:srgbClr val="1F1047"/>
            </a:solidFill>
            <a:round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body" hasCustomPrompt="1"/>
          </p:nvPr>
        </p:nvSpPr>
        <p:spPr>
          <a:xfrm>
            <a:off x="0" y="-1368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 hasCustomPrompt="1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19080">
            <a:solidFill>
              <a:schemeClr val="dk1"/>
            </a:solidFill>
            <a:round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121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24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 hasCustomPrompt="1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 hasCustomPrompt="1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8600" y="3228840"/>
            <a:ext cx="868644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Login Testing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47680" y="4410000"/>
            <a:ext cx="86673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  <a:ea typeface="Public Sans"/>
              </a:rPr>
              <a:t>Ensuring Secure and Reliable Login through Functional and Boundary Testing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1" name="Google Shape;133;p27"/>
          <p:cNvGrpSpPr/>
          <p:nvPr/>
        </p:nvGrpSpPr>
        <p:grpSpPr>
          <a:xfrm>
            <a:off x="237960" y="230400"/>
            <a:ext cx="8672400" cy="292320"/>
            <a:chOff x="237960" y="230400"/>
            <a:chExt cx="8672400" cy="292320"/>
          </a:xfrm>
        </p:grpSpPr>
        <p:sp>
          <p:nvSpPr>
            <p:cNvPr id="62" name="Google Shape;134;p27"/>
            <p:cNvSpPr/>
            <p:nvPr/>
          </p:nvSpPr>
          <p:spPr>
            <a:xfrm>
              <a:off x="237960" y="230400"/>
              <a:ext cx="1273680" cy="29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en-GB" sz="1000" b="0" u="none" strike="noStrike">
                  <a:solidFill>
                    <a:schemeClr val="dk1"/>
                  </a:solidFill>
                  <a:effectLst/>
                  <a:uFillTx/>
                  <a:latin typeface="Public Sans"/>
                  <a:ea typeface="Public Sans"/>
                </a:rPr>
                <a:t>14</a:t>
              </a:r>
              <a:r>
                <a:rPr lang="en-GB" sz="1000" b="0" u="none" strike="noStrike">
                  <a:solidFill>
                    <a:schemeClr val="dk1"/>
                  </a:solidFill>
                  <a:effectLst/>
                  <a:uFillTx/>
                  <a:latin typeface="Public Sans"/>
                  <a:ea typeface="Public Sans"/>
                </a:rPr>
                <a:t>/</a:t>
              </a:r>
              <a:r>
                <a:rPr lang="en-US" altLang="en-GB" sz="1000" b="0" u="none" strike="noStrike">
                  <a:solidFill>
                    <a:schemeClr val="dk1"/>
                  </a:solidFill>
                  <a:effectLst/>
                  <a:uFillTx/>
                  <a:latin typeface="Public Sans"/>
                  <a:ea typeface="Public Sans"/>
                </a:rPr>
                <a:t>09</a:t>
              </a:r>
              <a:r>
                <a:rPr lang="en-GB" sz="1000" b="0" u="none" strike="noStrike">
                  <a:solidFill>
                    <a:schemeClr val="dk1"/>
                  </a:solidFill>
                  <a:effectLst/>
                  <a:uFillTx/>
                  <a:latin typeface="Public Sans"/>
                  <a:ea typeface="Public Sans"/>
                </a:rPr>
                <a:t>/</a:t>
              </a:r>
              <a:r>
                <a:rPr lang="en-US" altLang="en-GB" sz="1000" b="0" u="none" strike="noStrike">
                  <a:solidFill>
                    <a:schemeClr val="dk1"/>
                  </a:solidFill>
                  <a:effectLst/>
                  <a:uFillTx/>
                  <a:latin typeface="Public Sans"/>
                  <a:ea typeface="Public Sans"/>
                </a:rPr>
                <a:t>2025</a:t>
              </a:r>
              <a:endParaRPr lang="en-US" altLang="en-GB" sz="10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endParaRPr>
            </a:p>
          </p:txBody>
        </p:sp>
        <p:sp>
          <p:nvSpPr>
            <p:cNvPr id="63" name="Google Shape;135;p27"/>
            <p:cNvSpPr/>
            <p:nvPr/>
          </p:nvSpPr>
          <p:spPr>
            <a:xfrm>
              <a:off x="8108640" y="230400"/>
              <a:ext cx="801720" cy="29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" name="Google Shape;136;p27" title="2148208821.jpg"/>
          <p:cNvSpPr/>
          <p:nvPr/>
        </p:nvSpPr>
        <p:spPr>
          <a:xfrm>
            <a:off x="223200" y="573120"/>
            <a:ext cx="8692200" cy="2522520"/>
          </a:xfrm>
          <a:prstGeom prst="roundRect">
            <a:avLst>
              <a:gd name="adj" fmla="val 7270"/>
            </a:avLst>
          </a:prstGeom>
          <a:blipFill rotWithShape="0">
            <a:blip r:embed="rId1"/>
            <a:srcRect/>
            <a:stretch>
              <a:fillRect/>
            </a:stretch>
          </a:blipFill>
          <a:ln w="19050">
            <a:solidFill>
              <a:srgbClr val="1F1047"/>
            </a:solidFill>
            <a:round/>
          </a:ln>
          <a:effectLst>
            <a:outerShdw dist="76123" dir="2642517" algn="bl" rotWithShape="0">
              <a:schemeClr val="accent1"/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238115" cy="7562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000" b="1" u="none" strike="noStrike">
                <a:solidFill>
                  <a:schemeClr val="dk1"/>
                </a:solidFill>
                <a:effectLst/>
                <a:uFillTx/>
                <a:latin typeface="Britannic Bold" panose="020B0903060703020204" charset="0"/>
                <a:cs typeface="Britannic Bold" panose="020B0903060703020204" charset="0"/>
              </a:rPr>
              <a:t>Objectives</a:t>
            </a:r>
            <a:endParaRPr lang="en-US" altLang="en-US" sz="3000" b="1" u="none" strike="noStrike">
              <a:solidFill>
                <a:schemeClr val="dk1"/>
              </a:solidFill>
              <a:effectLst/>
              <a:uFillTx/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228600" y="915670"/>
            <a:ext cx="5161915" cy="38792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The key objectives of this project are: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To validate correct and incorrect login credential handling.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To test field validations for empty inputs, long strings, and invalid characters.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To ensure error messages are clear and user-friendly.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To apply boundary value analysis for edge cases like maximum input length.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To perform basic security checks such as SQL injection and password strength validation.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To generate pass/fail reports for each test case.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Google Shape;222;p32" title="2148208833.jpg"/>
          <p:cNvSpPr/>
          <p:nvPr/>
        </p:nvSpPr>
        <p:spPr>
          <a:xfrm>
            <a:off x="5758920" y="447480"/>
            <a:ext cx="3152160" cy="4441320"/>
          </a:xfrm>
          <a:prstGeom prst="roundRect">
            <a:avLst>
              <a:gd name="adj" fmla="val 6482"/>
            </a:avLst>
          </a:prstGeom>
          <a:blipFill rotWithShape="0">
            <a:blip r:embed="rId1"/>
            <a:srcRect/>
            <a:stretch>
              <a:fillRect/>
            </a:stretch>
          </a:blipFill>
          <a:ln w="19050">
            <a:solidFill>
              <a:srgbClr val="1F1047"/>
            </a:solidFill>
            <a:round/>
          </a:ln>
          <a:effectLst>
            <a:outerShdw dist="76123" dir="2642517" algn="bl" rotWithShape="0">
              <a:schemeClr val="dk2"/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238115" cy="118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000" b="1" u="none" strike="noStrike">
                <a:solidFill>
                  <a:schemeClr val="dk1"/>
                </a:solidFill>
                <a:effectLst/>
                <a:uFillTx/>
                <a:latin typeface="Bodoni MT Black" panose="02070A03080606020203" charset="0"/>
                <a:cs typeface="Bodoni MT Black" panose="02070A03080606020203" charset="0"/>
              </a:rPr>
              <a:t>What is Login Form Testing and what it does?</a:t>
            </a:r>
            <a:endParaRPr lang="en-US" altLang="en-US" sz="3000" b="1" u="none" strike="noStrike">
              <a:solidFill>
                <a:schemeClr val="dk1"/>
              </a:solidFill>
              <a:effectLst/>
              <a:uFillTx/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251460" y="1348105"/>
            <a:ext cx="5161915" cy="35744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Login Form Testing is a software testing process focused on verifying the functionality, security, and reliability of a system’s login page — the primary entry point for users. It ensures that only authorized users can gain access, while invalid inputs are properly handled to prevent errors or vulnerabilities.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indent="0" algn="ctr">
              <a:buNone/>
            </a:pP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indent="0" algn="l">
              <a:buNone/>
            </a:pPr>
            <a:r>
              <a:rPr lang="en-US" altLang="en-US" sz="1400" b="1" u="sng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Traditional Login Testing</a:t>
            </a: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: – Focuses mainly on checking valid/invalid credentials, empty fields, and basic input validation.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indent="0" algn="ctr">
              <a:buNone/>
            </a:pP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indent="0" algn="l">
              <a:buNone/>
            </a:pPr>
            <a:r>
              <a:rPr lang="en-US" altLang="en-US" sz="1400" b="1" u="sng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Advanced Login Testing</a:t>
            </a: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: – Includes boundary value testing, special characters, SQL injection checks, password strength validation, and usability checks to ensure both security and user experience.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</p:txBody>
      </p:sp>
      <p:sp>
        <p:nvSpPr>
          <p:cNvPr id="70" name="Google Shape;222;p32" title="2148208833.jpg"/>
          <p:cNvSpPr/>
          <p:nvPr/>
        </p:nvSpPr>
        <p:spPr>
          <a:xfrm>
            <a:off x="5758920" y="447480"/>
            <a:ext cx="3152160" cy="4441320"/>
          </a:xfrm>
          <a:prstGeom prst="roundRect">
            <a:avLst>
              <a:gd name="adj" fmla="val 6482"/>
            </a:avLst>
          </a:prstGeom>
          <a:blipFill rotWithShape="0">
            <a:blip r:embed="rId1"/>
            <a:srcRect/>
            <a:stretch>
              <a:fillRect/>
            </a:stretch>
          </a:blipFill>
          <a:ln w="19050">
            <a:solidFill>
              <a:srgbClr val="1F1047"/>
            </a:solidFill>
            <a:round/>
          </a:ln>
          <a:effectLst>
            <a:outerShdw dist="76123" dir="2642517" algn="bl" rotWithShape="0">
              <a:schemeClr val="dk2"/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165" cy="698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000" b="1" u="none" strike="noStrike">
                <a:solidFill>
                  <a:schemeClr val="dk1"/>
                </a:solidFill>
                <a:effectLst/>
                <a:uFillTx/>
                <a:latin typeface="Bodoni MT Black" panose="02070A03080606020203" charset="0"/>
                <a:cs typeface="Bodoni MT Black" panose="02070A03080606020203" charset="0"/>
              </a:rPr>
              <a:t>How Login Form Testing Works</a:t>
            </a:r>
            <a:endParaRPr lang="en-US" altLang="en-US" sz="3000" b="1" u="none" strike="noStrike">
              <a:solidFill>
                <a:schemeClr val="dk1"/>
              </a:solidFill>
              <a:effectLst/>
              <a:uFillTx/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323850" y="988060"/>
            <a:ext cx="8590915" cy="34480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/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1" u="sng" strike="noStrike">
                <a:solidFill>
                  <a:schemeClr val="tx1"/>
                </a:solidFill>
                <a:effectLst/>
                <a:uFillTx/>
                <a:latin typeface="OpenSymbol"/>
              </a:rPr>
              <a:t>Functional Validation</a:t>
            </a:r>
            <a:r>
              <a:rPr lang="en-US" altLang="en-US" sz="1200" b="0" u="none" strike="noStrike">
                <a:solidFill>
                  <a:schemeClr val="tx1"/>
                </a:solidFill>
                <a:effectLst/>
                <a:uFillTx/>
                <a:latin typeface="OpenSymbol"/>
              </a:rPr>
              <a:t> –Checks whether the login form correctly accepts valid credentials and rejects invalid ones.</a:t>
            </a:r>
            <a:endParaRPr lang="en-US" altLang="en-US" sz="1200" b="0" u="none" strike="noStrike">
              <a:solidFill>
                <a:schemeClr val="tx1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chemeClr val="tx1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1" u="sng" strike="noStrike">
                <a:solidFill>
                  <a:schemeClr val="tx1"/>
                </a:solidFill>
                <a:effectLst/>
                <a:uFillTx/>
                <a:latin typeface="OpenSymbol"/>
              </a:rPr>
              <a:t>Input Handling</a:t>
            </a:r>
            <a:r>
              <a:rPr lang="en-US" altLang="en-US" sz="1200" b="0" u="none" strike="noStrike">
                <a:solidFill>
                  <a:schemeClr val="tx1"/>
                </a:solidFill>
                <a:effectLst/>
                <a:uFillTx/>
                <a:latin typeface="OpenSymbol"/>
              </a:rPr>
              <a:t> –Ensures the form properly processes empty fields, long inputs, and special characters without breaking.</a:t>
            </a:r>
            <a:endParaRPr lang="en-US" altLang="en-US" sz="1200" b="0" u="none" strike="noStrike">
              <a:solidFill>
                <a:schemeClr val="tx1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chemeClr val="tx1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1" u="sng" strike="noStrike">
                <a:solidFill>
                  <a:schemeClr val="tx1"/>
                </a:solidFill>
                <a:effectLst/>
                <a:uFillTx/>
                <a:latin typeface="OpenSymbol"/>
              </a:rPr>
              <a:t>Error Message Verification</a:t>
            </a:r>
            <a:r>
              <a:rPr lang="en-US" altLang="en-US" sz="1200" b="0" u="none" strike="noStrike">
                <a:solidFill>
                  <a:schemeClr val="tx1"/>
                </a:solidFill>
                <a:effectLst/>
                <a:uFillTx/>
                <a:latin typeface="OpenSymbol"/>
              </a:rPr>
              <a:t> –Confirms that clear, user-friendly messages appear for wrong credentials or missing fields.</a:t>
            </a:r>
            <a:endParaRPr lang="en-US" altLang="en-US" sz="1200" b="0" u="none" strike="noStrike">
              <a:solidFill>
                <a:schemeClr val="tx1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chemeClr val="tx1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1" u="sng" strike="noStrike">
                <a:solidFill>
                  <a:schemeClr val="tx1"/>
                </a:solidFill>
                <a:effectLst/>
                <a:uFillTx/>
                <a:latin typeface="OpenSymbol"/>
              </a:rPr>
              <a:t>Boundary Testing</a:t>
            </a:r>
            <a:r>
              <a:rPr lang="en-US" altLang="en-US" sz="1200" b="0" u="none" strike="noStrike">
                <a:solidFill>
                  <a:schemeClr val="tx1"/>
                </a:solidFill>
                <a:effectLst/>
                <a:uFillTx/>
                <a:latin typeface="OpenSymbol"/>
              </a:rPr>
              <a:t> –Tests edge cases such as maximum username/password length and multiple failed attempts.</a:t>
            </a:r>
            <a:endParaRPr lang="en-US" altLang="en-US" sz="1200" b="0" u="none" strike="noStrike">
              <a:solidFill>
                <a:schemeClr val="tx1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chemeClr val="tx1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1" u="sng" strike="noStrike">
                <a:solidFill>
                  <a:schemeClr val="tx1"/>
                </a:solidFill>
                <a:effectLst/>
                <a:uFillTx/>
                <a:latin typeface="OpenSymbol"/>
              </a:rPr>
              <a:t>Security Checks</a:t>
            </a:r>
            <a:r>
              <a:rPr lang="en-US" altLang="en-US" sz="1200" b="0" u="none" strike="noStrike">
                <a:solidFill>
                  <a:schemeClr val="tx1"/>
                </a:solidFill>
                <a:effectLst/>
                <a:uFillTx/>
                <a:latin typeface="OpenSymbol"/>
              </a:rPr>
              <a:t> –Validates that the login form is protected against common attacks like SQL injection or brute-force attempts.</a:t>
            </a:r>
            <a:endParaRPr lang="en-US" altLang="en-US" sz="1200" b="0" u="none" strike="noStrike">
              <a:solidFill>
                <a:schemeClr val="tx1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000" b="1" u="none" strike="noStrike">
                <a:solidFill>
                  <a:schemeClr val="dk1"/>
                </a:solidFill>
                <a:effectLst/>
                <a:uFillTx/>
                <a:latin typeface="Bodoni MT Black" panose="02070A03080606020203" charset="0"/>
                <a:cs typeface="Bodoni MT Black" panose="02070A03080606020203" charset="0"/>
              </a:rPr>
              <a:t>What we are doing?</a:t>
            </a:r>
            <a:endParaRPr lang="en-US" altLang="en-US" sz="3000" b="1" u="none" strike="noStrike">
              <a:solidFill>
                <a:schemeClr val="dk1"/>
              </a:solidFill>
              <a:effectLst/>
              <a:uFillTx/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323850" y="941705"/>
            <a:ext cx="8590915" cy="32296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20000"/>
          </a:bodyPr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We’re making sure the login page — the first gateway into any system — is secure, reliable, and user-friendly. A login form that isn’t properly tested can let in attackers or frustrate real users.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By applying systematic testing methods, we check everything: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Does the form accept correct credentials and reject wrong ones?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Does it handle empty fields, long inputs, and special characters properly?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Are error messages clear without exposing sensitive details?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Is it safe against common attacks like SQL injection or brute force attempts?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In short, we are stopping login-level issues at the very start, ensuring that only authorized users get access while blocking unauthorized ones effectively.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238115" cy="7613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000" b="1" u="none" strike="noStrike">
                <a:solidFill>
                  <a:schemeClr val="dk1"/>
                </a:solidFill>
                <a:effectLst/>
                <a:uFillTx/>
                <a:latin typeface="Bodoni MT Black" panose="02070A03080606020203" charset="0"/>
                <a:cs typeface="Bodoni MT Black" panose="02070A03080606020203" charset="0"/>
              </a:rPr>
              <a:t>How we are doing?</a:t>
            </a:r>
            <a:endParaRPr lang="en-US" altLang="en-US" sz="3000" b="1" u="none" strike="noStrike">
              <a:solidFill>
                <a:schemeClr val="dk1"/>
              </a:solidFill>
              <a:effectLst/>
              <a:uFillTx/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228600" y="911860"/>
            <a:ext cx="5161915" cy="397383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Test Design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We prepare different test cases covering valid logins, invalid logins, empty fields, long inputs, and special characters.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Execution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These test cases are run step by step on the login form to check how it behaves in each situation.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Validation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We verify whether the system gives correct responses: successful login for valid inputs, proper error messages for wrong inputs, and secure rejection of harmful attempts.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2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Security Testing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Extra checks are added for attacks like SQL injection, brute-force attempts, and password strength validation to make sure the system cannot be bypassed.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0"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By combining </a:t>
            </a:r>
            <a:r>
              <a:rPr lang="en-US" altLang="en-US" sz="1200" b="1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functional tests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, </a:t>
            </a:r>
            <a:r>
              <a:rPr lang="en-US" altLang="en-US" sz="1200" b="1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boundary tests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, and </a:t>
            </a:r>
            <a:r>
              <a:rPr lang="en-US" altLang="en-US" sz="1200" b="1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security checks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, we ensure that the login form works correctly, is user-friendly, and blocks unauthorized access right at the entry point.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222;p32" title="2148208833.jpg"/>
          <p:cNvSpPr/>
          <p:nvPr/>
        </p:nvSpPr>
        <p:spPr>
          <a:xfrm>
            <a:off x="5758920" y="447480"/>
            <a:ext cx="3152160" cy="4441320"/>
          </a:xfrm>
          <a:prstGeom prst="roundRect">
            <a:avLst>
              <a:gd name="adj" fmla="val 6482"/>
            </a:avLst>
          </a:prstGeom>
          <a:blipFill rotWithShape="0">
            <a:blip r:embed="rId1"/>
            <a:srcRect/>
            <a:stretch>
              <a:fillRect/>
            </a:stretch>
          </a:blipFill>
          <a:ln w="19050">
            <a:solidFill>
              <a:srgbClr val="1F1047"/>
            </a:solidFill>
            <a:round/>
          </a:ln>
          <a:effectLst>
            <a:outerShdw dist="76123" dir="2642517" algn="bl" rotWithShape="0">
              <a:schemeClr val="dk2"/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238115" cy="6470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000" b="1" u="none" strike="noStrike">
                <a:solidFill>
                  <a:schemeClr val="dk1"/>
                </a:solidFill>
                <a:effectLst/>
                <a:uFillTx/>
                <a:latin typeface="Bodoni MT Black" panose="02070A03080606020203" charset="0"/>
                <a:cs typeface="Bodoni MT Black" panose="02070A03080606020203" charset="0"/>
              </a:rPr>
              <a:t>Tools and Technologies Used</a:t>
            </a:r>
            <a:r>
              <a:rPr lang="en-US" altLang="en-US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 </a:t>
            </a:r>
            <a:endParaRPr lang="en-US" altLang="en-US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251460" y="771525"/>
            <a:ext cx="8672830" cy="3937635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p>
            <a:pPr marL="0" indent="0" algn="l">
              <a:buNone/>
            </a:pPr>
            <a:r>
              <a:rPr lang="en-US" altLang="en-US" sz="1600" b="1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1.</a:t>
            </a:r>
            <a:r>
              <a:rPr lang="en-US" altLang="en-US" sz="1600" b="1" u="sng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Manual Testing</a:t>
            </a: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: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0" indent="0" algn="l">
              <a:buNone/>
            </a:pP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Word/Excel/Sheets: Write test cases for valid/invalid inputs and error messages.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Boundary Value &amp; Equivalence Partitioning: Test edge cases like empty fields or max-length inputs.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0" indent="0" algn="l">
              <a:buNone/>
            </a:pP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0" indent="0" algn="l">
              <a:buNone/>
            </a:pPr>
            <a:r>
              <a:rPr lang="en-US" altLang="en-US" sz="1600" b="1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2.</a:t>
            </a:r>
            <a:r>
              <a:rPr lang="en-US" altLang="en-US" sz="1600" b="1" u="sng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Automation Testing</a:t>
            </a: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: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0" indent="0" algn="l">
              <a:buNone/>
            </a:pP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Selenium : Automate login tests in browsers for repeated scenarios.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JUnit : Test backend login logic automatically.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0" indent="0" algn="l">
              <a:buNone/>
            </a:pP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0" indent="0" algn="l">
              <a:buNone/>
            </a:pPr>
            <a:r>
              <a:rPr lang="en-US" altLang="en-US" sz="1600" b="1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3.API Testing</a:t>
            </a: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: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0" indent="0" algn="l">
              <a:buNone/>
            </a:pP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en-US" sz="14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Postman: Manually check login API responses.</a:t>
            </a: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  <a:p>
            <a:pPr indent="0" algn="l">
              <a:buNone/>
            </a:pPr>
            <a:endParaRPr lang="en-US" altLang="en-US" sz="1400" b="0" u="none" strike="noStrike">
              <a:solidFill>
                <a:schemeClr val="dk1"/>
              </a:solidFill>
              <a:effectLst/>
              <a:uFillTx/>
              <a:latin typeface="Public Sans"/>
              <a:ea typeface="Public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395605" y="-307975"/>
            <a:ext cx="8295640" cy="33909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6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4.Security Testing:</a:t>
            </a:r>
            <a:endParaRPr lang="en-US" altLang="en-US" sz="1600" b="1" u="sng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alt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Password Strength Checkers : Ensure passwords meet security rules.</a:t>
            </a:r>
            <a:endParaRPr lang="en-US" alt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alt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alt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6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5.Test &amp; Bug Management:</a:t>
            </a:r>
            <a:endParaRPr lang="en-US" altLang="en-US" sz="1600" b="1" u="sng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Jira : Track bugs and testing progress.</a:t>
            </a:r>
            <a:endParaRPr lang="en-US" alt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alt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alt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356600" cy="6896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000" b="0" u="none" strike="noStrike">
                <a:solidFill>
                  <a:schemeClr val="dk1"/>
                </a:solidFill>
                <a:effectLst/>
                <a:uFillTx/>
                <a:latin typeface="Bodoni MT Black" panose="02070A03080606020203" charset="0"/>
                <a:cs typeface="Bodoni MT Black" panose="02070A03080606020203" charset="0"/>
              </a:rPr>
              <a:t>Login Form Test Case Scenarios</a:t>
            </a:r>
            <a:endParaRPr lang="en-US" altLang="en-US" sz="3000" b="0" u="none" strike="noStrike">
              <a:solidFill>
                <a:schemeClr val="dk1"/>
              </a:solidFill>
              <a:effectLst/>
              <a:uFillTx/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323850" y="915670"/>
            <a:ext cx="8622030" cy="41160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1. Valid Credentials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2. Invalid Username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3. Invalid Password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4. Empty Username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5. Empty Password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6. Both Fields Empty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7. Special Characters in Username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8. Special Characters in Password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9. Maximum Length Inputs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10. Minimum Length Inputs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11. Case Sensitivity Test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12. Leading/Trailing Spaces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13. Multiple Failed Login Attempts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14. Stay Logged In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15. Forgot Password Flow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16. Login After Password Change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17. Session Timeout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36195" y="-20320"/>
            <a:ext cx="9201150" cy="5154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000" b="0" u="none" strike="noStrike">
                <a:solidFill>
                  <a:schemeClr val="dk1"/>
                </a:solidFill>
                <a:effectLst/>
                <a:uFillTx/>
                <a:latin typeface="Bodoni MT Black" panose="02070A03080606020203" charset="0"/>
                <a:cs typeface="Bodoni MT Black" panose="02070A03080606020203" charset="0"/>
              </a:rPr>
              <a:t>Expected Outcomes</a:t>
            </a:r>
            <a:endParaRPr lang="en-US" altLang="en-US" sz="3000" b="0" u="none" strike="noStrike">
              <a:solidFill>
                <a:schemeClr val="dk1"/>
              </a:solidFill>
              <a:effectLst/>
              <a:uFillTx/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395605" y="483870"/>
            <a:ext cx="8638540" cy="436943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3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Secure Login Form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Only valid users can access the system; unauthorized access is blocked.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3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Reliable Functionality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The form works correctly under normal and unexpected inputs.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3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Clear Error Messages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Users receive understandable messages for wrong username/password or invalid input.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3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Boundary Handling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The form handles very short, very long, or empty inputs properly.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3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Protection Against Common Attacks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The system resists SQL injection, script injection, and repeated login attempts.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3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User-Friendly Design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Easy to use and reduces user frustration.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3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Validation Checks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Input fields are validated for correct format (like email format, password rules).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3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Consistent Behavior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 – Works the same way on different browsers or devices.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en-US" altLang="en-US" sz="1300" b="1" u="sng" strike="noStrike">
                <a:solidFill>
                  <a:srgbClr val="000000"/>
                </a:solidFill>
                <a:effectLst/>
                <a:uFillTx/>
                <a:latin typeface="OpenSymbol"/>
              </a:rPr>
              <a:t>Black-Box Tested </a:t>
            </a: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– Verified from a user’s perspective without accessing the internal code.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1835725" y="1275850"/>
            <a:ext cx="5285880" cy="1810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0" u="none" strike="noStrike">
                <a:solidFill>
                  <a:schemeClr val="dk1"/>
                </a:solidFill>
                <a:effectLst/>
                <a:uFillTx/>
                <a:latin typeface="Cooper Black" panose="0208090404030B020404"/>
                <a:ea typeface="Cooper Black" panose="0208090404030B020404"/>
              </a:rPr>
              <a:t>Thanks for your attention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23215" y="3867785"/>
            <a:ext cx="2708275" cy="7854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ummer Study Hacks by Slidesgo">
  <a:themeElements>
    <a:clrScheme name="Simple Light">
      <a:dk1>
        <a:srgbClr val="1F1047"/>
      </a:dk1>
      <a:lt1>
        <a:srgbClr val="FFF9F3"/>
      </a:lt1>
      <a:dk2>
        <a:srgbClr val="F5E6AB"/>
      </a:dk2>
      <a:lt2>
        <a:srgbClr val="BDCBFF"/>
      </a:lt2>
      <a:accent1>
        <a:srgbClr val="D1F59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104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5201</Words>
  <Application>WPS Presentation</Application>
  <PresentationFormat/>
  <Paragraphs>141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SimSun</vt:lpstr>
      <vt:lpstr>Wingdings</vt:lpstr>
      <vt:lpstr>Arial</vt:lpstr>
      <vt:lpstr>Symbol</vt:lpstr>
      <vt:lpstr>Cooper Black</vt:lpstr>
      <vt:lpstr>Public Sans</vt:lpstr>
      <vt:lpstr>Segoe Print</vt:lpstr>
      <vt:lpstr>OpenSymbol</vt:lpstr>
      <vt:lpstr>Calibri</vt:lpstr>
      <vt:lpstr>Microsoft YaHei</vt:lpstr>
      <vt:lpstr>Arial Unicode MS</vt:lpstr>
      <vt:lpstr>Britannic Bold</vt:lpstr>
      <vt:lpstr>Arial Black</vt:lpstr>
      <vt:lpstr>Bodoni MT Black</vt:lpstr>
      <vt:lpstr>Algerian</vt:lpstr>
      <vt:lpstr>Cambria</vt:lpstr>
      <vt:lpstr>Summer Study Hacks by Slidesgo</vt:lpstr>
      <vt:lpstr>Slidesgo Final Pages</vt:lpstr>
      <vt:lpstr>Login Testing</vt:lpstr>
      <vt:lpstr>Introduction</vt:lpstr>
      <vt:lpstr>Testing Framework Design</vt:lpstr>
      <vt:lpstr>Functional Test Case Development</vt:lpstr>
      <vt:lpstr>Black-Box Testing Techniques</vt:lpstr>
      <vt:lpstr>Security and Validation Checks</vt:lpstr>
      <vt:lpstr>Boundary and Edge Case Testing</vt:lpstr>
      <vt:lpstr>Field Validation and Input Limits</vt:lpstr>
      <vt:lpstr>Error Message Verification</vt:lpstr>
      <vt:lpstr>Security Vulnerability Testing and Reporting</vt:lpstr>
      <vt:lpstr>Conclusions</vt:lpstr>
      <vt:lpstr>Thanks for your attention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Login Testing</dc:title>
  <dc:creator/>
  <cp:lastModifiedBy>Ravi Shankar</cp:lastModifiedBy>
  <cp:revision>2</cp:revision>
  <dcterms:created xsi:type="dcterms:W3CDTF">2025-09-13T22:22:45Z</dcterms:created>
  <dcterms:modified xsi:type="dcterms:W3CDTF">2025-09-13T22:23:32Z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47072E78157640A2BB110CAD9C948C89_13</vt:lpwstr>
  </property>
  <property fmtid="{D5CDD505-2E9C-101B-9397-08002B2CF9AE}" pid="4" name="KSOProductBuildVer">
    <vt:lpwstr>1033-12.2.0.22549</vt:lpwstr>
  </property>
</Properties>
</file>